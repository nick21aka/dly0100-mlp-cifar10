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Learning rate (val accuracy)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= 0.0001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0.44</c:v>
                </c:pt>
                <c:pt idx="1">
                  <c:v>0.46</c:v>
                </c:pt>
                <c:pt idx="2">
                  <c:v>0.47</c:v>
                </c:pt>
                <c:pt idx="3">
                  <c:v>0.48</c:v>
                </c:pt>
                <c:pt idx="4">
                  <c:v>0.48</c:v>
                </c:pt>
                <c:pt idx="5">
                  <c:v>0.48</c:v>
                </c:pt>
                <c:pt idx="6">
                  <c:v>0.49</c:v>
                </c:pt>
                <c:pt idx="7">
                  <c:v>0.49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0.5048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 = 0.001</c:v>
                </c:pt>
              </c:strCache>
            </c:strRef>
          </c:tx>
          <c:spPr>
            <a:solidFill>
              <a:srgbClr val="94A3B8"/>
            </a:solidFill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0.43</c:v>
                </c:pt>
                <c:pt idx="1">
                  <c:v>0.46</c:v>
                </c:pt>
                <c:pt idx="2">
                  <c:v>0.47</c:v>
                </c:pt>
                <c:pt idx="3">
                  <c:v>0.48</c:v>
                </c:pt>
                <c:pt idx="4">
                  <c:v>0.48</c:v>
                </c:pt>
                <c:pt idx="5">
                  <c:v>0.48</c:v>
                </c:pt>
                <c:pt idx="6">
                  <c:v>0.48</c:v>
                </c:pt>
                <c:pt idx="7">
                  <c:v>0.48</c:v>
                </c:pt>
                <c:pt idx="8">
                  <c:v>0.48</c:v>
                </c:pt>
                <c:pt idx="9">
                  <c:v>0.48</c:v>
                </c:pt>
                <c:pt idx="10">
                  <c:v>0.48</c:v>
                </c:pt>
                <c:pt idx="11">
                  <c:v>0.48</c:v>
                </c:pt>
                <c:pt idx="12">
                  <c:v>0.48</c:v>
                </c:pt>
                <c:pt idx="13">
                  <c:v>0.48</c:v>
                </c:pt>
                <c:pt idx="14">
                  <c:v>0.48</c:v>
                </c:pt>
                <c:pt idx="15">
                  <c:v>0.48</c:v>
                </c:pt>
                <c:pt idx="16">
                  <c:v>0.48</c:v>
                </c:pt>
                <c:pt idx="17">
                  <c:v>0.48</c:v>
                </c:pt>
                <c:pt idx="18">
                  <c:v>0.48</c:v>
                </c:pt>
                <c:pt idx="19">
                  <c:v>0.48</c:v>
                </c:pt>
                <c:pt idx="20">
                  <c:v>0.48</c:v>
                </c:pt>
                <c:pt idx="21">
                  <c:v>0.48</c:v>
                </c:pt>
                <c:pt idx="22">
                  <c:v>0.48</c:v>
                </c:pt>
                <c:pt idx="23">
                  <c:v>0.48</c:v>
                </c:pt>
                <c:pt idx="24">
                  <c:v>0.4845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LR = 0.01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0.1</c:v>
                </c:pt>
                <c:pt idx="1">
                  <c:v>0.2</c:v>
                </c:pt>
                <c:pt idx="2">
                  <c:v>0.21</c:v>
                </c:pt>
                <c:pt idx="3">
                  <c:v>0.2</c:v>
                </c:pt>
                <c:pt idx="4">
                  <c:v>0.2</c:v>
                </c:pt>
                <c:pt idx="5">
                  <c:v>0.25</c:v>
                </c:pt>
                <c:pt idx="6">
                  <c:v>0.23</c:v>
                </c:pt>
                <c:pt idx="7">
                  <c:v>0.25</c:v>
                </c:pt>
                <c:pt idx="8">
                  <c:v>0.27</c:v>
                </c:pt>
                <c:pt idx="9">
                  <c:v>0.25</c:v>
                </c:pt>
                <c:pt idx="10">
                  <c:v>0.27</c:v>
                </c:pt>
                <c:pt idx="11">
                  <c:v>0.23</c:v>
                </c:pt>
                <c:pt idx="12">
                  <c:v>0.25</c:v>
                </c:pt>
                <c:pt idx="13">
                  <c:v>0.2</c:v>
                </c:pt>
                <c:pt idx="14">
                  <c:v>0.27</c:v>
                </c:pt>
                <c:pt idx="15">
                  <c:v>0.25</c:v>
                </c:pt>
                <c:pt idx="16">
                  <c:v>0.26</c:v>
                </c:pt>
                <c:pt idx="17">
                  <c:v>0.25</c:v>
                </c:pt>
                <c:pt idx="18">
                  <c:v>0.27</c:v>
                </c:pt>
                <c:pt idx="19">
                  <c:v>0.26</c:v>
                </c:pt>
                <c:pt idx="20">
                  <c:v>0.24</c:v>
                </c:pt>
                <c:pt idx="21">
                  <c:v>0.24</c:v>
                </c:pt>
                <c:pt idx="22">
                  <c:v>0.24</c:v>
                </c:pt>
                <c:pt idx="23">
                  <c:v>0.24</c:v>
                </c:pt>
                <c:pt idx="24">
                  <c:v>0.244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Epoca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Val accuracy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Impacto de la profundidad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capa
(256)</c:v>
                  </c:pt>
                  <c:pt idx="1">
                    <c:v>2 capas
(512,256)</c:v>
                  </c:pt>
                  <c:pt idx="2">
                    <c:v>3 capas
(512,256,128)</c:v>
                  </c:pt>
                  <c:pt idx="3">
                    <c:v>4 capas
(1024,...,128)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0.4847</c:v>
                </c:pt>
                <c:pt idx="1">
                  <c:v>0.4845</c:v>
                </c:pt>
                <c:pt idx="2">
                  <c:v>0.4822</c:v>
                </c:pt>
                <c:pt idx="3">
                  <c:v>0.4886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95"/>
          <c:min val="0.4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Impacto de la anchura (n unidades)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128</c:v>
                  </c:pt>
                  <c:pt idx="1">
                    <c:v>256</c:v>
                  </c:pt>
                  <c:pt idx="2">
                    <c:v>512</c:v>
                  </c:pt>
                  <c:pt idx="3">
                    <c:v>1024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0.4545</c:v>
                </c:pt>
                <c:pt idx="1">
                  <c:v>0.4586</c:v>
                </c:pt>
                <c:pt idx="2">
                  <c:v>0.4845</c:v>
                </c:pt>
                <c:pt idx="3">
                  <c:v>0.4654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9"/>
          <c:min val="0.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Test accuracy de los 4 optimizadores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SGD+momentum</c:v>
                  </c:pt>
                  <c:pt idx="1">
                    <c:v>RMSprop</c:v>
                  </c:pt>
                  <c:pt idx="2">
                    <c:v>Adam</c:v>
                  </c:pt>
                  <c:pt idx="3">
                    <c:v>AdamW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0.4899</c:v>
                </c:pt>
                <c:pt idx="1">
                  <c:v>0.4816</c:v>
                </c:pt>
                <c:pt idx="2">
                  <c:v>0.4816</c:v>
                </c:pt>
                <c:pt idx="3">
                  <c:v>0.4807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95"/>
          <c:min val="0.4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Accuracy por fold (consistencia)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0.5027</c:v>
                </c:pt>
                <c:pt idx="1">
                  <c:v>0.4911</c:v>
                </c:pt>
                <c:pt idx="2">
                  <c:v>0.4912</c:v>
                </c:pt>
                <c:pt idx="3">
                  <c:v>0.488</c:v>
                </c:pt>
                <c:pt idx="4">
                  <c:v>0.4992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05"/>
          <c:min val="0.4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para clasificacion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imagenes en CIFAR-10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Deep Learning  |  DLY0100  |  Duoc UC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(trabajo individual)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final: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59.33% accuracy  —  +11.20 pts vs 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dataset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CIFAR-10, por que MLP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1371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preprocesamiento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manual + Keras + verificacion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MLP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y funciones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560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hiperparametros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batch, profundidad, anchura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 de funciones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Activacion, error, salida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3657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 de optimizadores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RMSprop, Adam, AdamW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Optimizacion + Ensemble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BN+Dropout+L2+Noise + 3 modelos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4846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conclusiones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K-fold, metricas, hallazgos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clasificar imagenes en 10 categorias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108960" y="1463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imagenes en total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06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10896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balanceadas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32x32x3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108960" y="3749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pixeles por imagen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892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/ 10k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108960" y="4892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 / test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1371600"/>
            <a:ext cx="5852160" cy="4846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CLASES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airplane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824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automobile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bird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5040" y="3657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deer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0" y="3657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dog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504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frog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7824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horse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ship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7824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truck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preprocesamiento: 5 pasos justificados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554480" y="1280160"/>
            <a:ext cx="10058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135331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doble</a:t>
            </a:r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pickle.load() + cifar10.load_data()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691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manual del tar.gz para demostrar dominio del formato + Keras para flujo principal.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9424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1554480" y="2249424"/>
            <a:ext cx="10058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3225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 cruzada</a:t>
            </a:r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np.array_equal(manual, keras)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66090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Confirmamos que ambos metodos cargan EXACTAMENTE los mismos arrays.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1554480" y="3218688"/>
            <a:ext cx="10058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329184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Aplanado a vector 1D</a:t>
            </a:r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reshape(N, 3072)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36301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MLP recibe vectores, no tensores 3D. Cada pixel-canal pasa a ser una feature.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87952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17" name="Shape 15"/>
          <p:cNvSpPr/>
          <p:nvPr/>
        </p:nvSpPr>
        <p:spPr>
          <a:xfrm>
            <a:off x="1554480" y="4187952"/>
            <a:ext cx="10058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426110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Estandarizacion</a:t>
            </a:r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(x - mean) / std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45994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que normalizar [0,1]: gradientes mas estables, convergencia mas rapida con AdamW.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157216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1554480" y="5157216"/>
            <a:ext cx="10058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523036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+ split val</a:t>
            </a:r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to_categorical(y) + 80/20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83080" y="556869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 para crossentropy. Validation set separado para detectar overfitting.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MLP Pro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0" y="274320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480560" y="274320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675120" y="274320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869680" y="2743200"/>
            <a:ext cx="3657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1554480" cy="2468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32x32x3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aplanados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463040"/>
            <a:ext cx="1828800" cy="2468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651760" y="4023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1828800" cy="2468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846320" y="4023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1463040"/>
            <a:ext cx="1828800" cy="2468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4088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040880" y="4023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1463040"/>
            <a:ext cx="1645920" cy="2468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23544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235440" y="4023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972800" y="2194560"/>
            <a:ext cx="64008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0" y="21945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 — JUSTIFICACION TECNICA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He-Normal init optimizado.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acelera convergencia.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decreciente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mas regularizacion en capas iniciales.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GaussianNoise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sigma=0.1 actua como data augmentation.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weight decay 1e-4.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3.84M parametros.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Experimentos: learning rate y batch size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Oscila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Experimentos: profundidad y anchura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4864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280160"/>
          <a:ext cx="53035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 de funciones de activacion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697480" cy="9144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(1 + e^-x)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657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71600"/>
            <a:ext cx="2697480" cy="914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17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tanh(x)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44.03%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33756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657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974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269748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417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max(0, 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4688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48.16%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12648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657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15400" y="1371600"/>
            <a:ext cx="2697480" cy="3657600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15400" y="1371600"/>
            <a:ext cx="269748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8915400" y="1417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LeakyReLU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1540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max(0.01x, 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15400" y="24688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48.66%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891540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52560" y="3657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dying ReLU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29800" y="4617720"/>
            <a:ext cx="8686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9829800" y="46177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JUSTIFICACION: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LeakyReLU evita el problema 'dying ReLU' (neuronas inactivas con gradiente 0). Para CIFAR-10 con MLP, esa robustez vale +0.5 puntos vs ReLU estandar.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 de optimizadores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4008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371600"/>
            <a:ext cx="43891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0920" y="15087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SGD+momentum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60920" y="20574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en experimento corto (sin reg.)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23760" y="3657600"/>
            <a:ext cx="43891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60920" y="37947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60920" y="43434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para modelo final por weight decay desacoplado, mejor con regularizacion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Optimizacion: BN + Dropout + L2 + Noise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post-Dense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activaciones por mini-batch. Acelera convergencia.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120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78608"/>
            <a:ext cx="7315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883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decreciente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0.4 -&gt; 0.2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neuronas aleatoriamente. Mas regularizacion en capas iniciales.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85616"/>
            <a:ext cx="5120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85616"/>
            <a:ext cx="7315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953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= 0.0005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24281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pesos grandes en la loss. Reduce varianza del modelo.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92624"/>
            <a:ext cx="51206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992624"/>
            <a:ext cx="7315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102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GaussianNoise</a:t>
            </a:r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sigma = 0.1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4498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aplicable a MLP. Hace robusto al modelo.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371600"/>
            <a:ext cx="5669280" cy="4846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TOTAL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0116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+9.04</a:t>
            </a:r>
            <a:endParaRPr lang="en-US" sz="9600" dirty="0"/>
          </a:p>
        </p:txBody>
      </p:sp>
      <p:sp>
        <p:nvSpPr>
          <p:cNvPr id="23" name="Text 21"/>
          <p:cNvSpPr/>
          <p:nvPr/>
        </p:nvSpPr>
        <p:spPr>
          <a:xfrm>
            <a:off x="6126480" y="3703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porcentuales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MLP base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4434840"/>
            <a:ext cx="914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617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48.13%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 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57.17%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3 modelos diversos con soft voting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8580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91440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1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Profundo (4 capas)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1024-512-256-128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3.84M parametros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600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57.17%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8580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91440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2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Medio (3 capas, L2 menor)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1024-512-256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3.81M parametros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971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58.09%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68580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14800"/>
            <a:ext cx="91440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51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3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Piramide (ancho top)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2048-512-128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7.42M parametros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4343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57.39%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7680960" y="1371600"/>
            <a:ext cx="3931920" cy="4846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(soft voting)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468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59.33%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78638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4114800"/>
            <a:ext cx="731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4297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mejor individual: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+1.24 pts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MLP Pro: 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+2.16 pts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Base: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+11.20 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cruzada 5-fold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8580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371600"/>
            <a:ext cx="3931920" cy="4846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ESTADISTICAS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63840" y="2011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49.44%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8638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validation accuracy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63840" y="3383280"/>
            <a:ext cx="7315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6118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0.55%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48.80%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50.27%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muy baja = modelo robusto, no depende del split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finales del ensemble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predicciones correctas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59.43%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predicciones positivas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7160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59.33%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6364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positivos reales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13716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15400" y="137160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15400" y="20574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59.31%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05256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precision-recall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ACCURACY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846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59.33%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7724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1ra prediccion correcta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846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87.27%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48056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las 3 mas probables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388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83880" y="4846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95.69%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18388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las 5 mas probables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confusiones del ensemble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914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Animales con texturas y poses similares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Confusion bidireccional dog-cat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Vehiculos terrestres similares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 categoria visual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Animales en escenas naturales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airplane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Fondos cielo/agua similares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 categoria de naturaleza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371600"/>
            <a:ext cx="3931920" cy="4846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DETECTADO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confusiones siguen 3 categorias semanticas: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24688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Animales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dog-cat, deer-bird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Vehiculos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automobile-truck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Cielos/agua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airplane-ship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5440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MLP no puede distinguir formas espaciales. CNN seria el siguiente paso.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proximos pasos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PARCIAL N 1  /  DLY0100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alcanza 59.33% (cercano al limite del MLP)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3591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Regularizacion: +9.04 pts; Ensemble suma +2.16 pts mas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953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confirma robustez: std de solo 0.55%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5478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LeakyReLU &gt; ReLU &gt; Sigmoid &gt; Tanh (empirico)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1422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 arquitectonica supera diversidad solo de seeds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783080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7830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85623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CNN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pts esperados (capas convolucionales)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560320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56032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63347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2D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Flips, rotaciones, crops -&gt; +5 pts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3337560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3375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41071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ResNet50/EfficientNet -&gt; +10 pts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114800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1148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18795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Schedulers avanzados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CosineDecay, OneCycle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64240" cy="777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029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las limitaciones de un MLP es tan valioso como saber implementarlo.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— Fundamentos de Deep Learning — Duoc UC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731520" y="374904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931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 —  Evaluacion Parcial N 1  —  DLY0100  —  Duoc UC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MLP CIFAR-10 - Ensemble</dc:title>
  <dc:subject>PptxGenJS Presentation</dc:subject>
  <dc:creator>Nicolas</dc:creator>
  <cp:lastModifiedBy>Nicolas</cp:lastModifiedBy>
  <cp:revision>1</cp:revision>
  <dcterms:created xsi:type="dcterms:W3CDTF">2026-05-02T03:15:03Z</dcterms:created>
  <dcterms:modified xsi:type="dcterms:W3CDTF">2026-05-02T03:15:03Z</dcterms:modified>
</cp:coreProperties>
</file>